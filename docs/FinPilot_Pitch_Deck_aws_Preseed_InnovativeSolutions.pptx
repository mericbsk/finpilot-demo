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051560"/>
            <a:ext cx="9994392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124712"/>
            <a:ext cx="9994392" cy="0"/>
          </a:xfrm>
          <a:prstGeom prst="line">
            <a:avLst/>
          </a:prstGeom>
          <a:noFill/>
          <a:ln w="9525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26187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VIENNA · EST. 2024 · DAILY EDITION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783080"/>
            <a:ext cx="9994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FinPilot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1554480" y="3154680"/>
            <a:ext cx="9079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interactive financial literacy lab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institutional-grade market analytics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248656" y="429768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07024" y="4297680"/>
            <a:ext cx="566928" cy="566928"/>
          </a:xfrm>
          <a:prstGeom prst="ellipse">
            <a:avLst/>
          </a:prstGeom>
          <a:solidFill>
            <a:srgbClr val="4A6F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65392" y="4297680"/>
            <a:ext cx="566928" cy="566928"/>
          </a:xfrm>
          <a:prstGeom prst="ellipse">
            <a:avLst/>
          </a:prstGeom>
          <a:solidFill>
            <a:srgbClr val="8A8F9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5074920"/>
            <a:ext cx="9079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Morning Ledger — the newspaper that teaches you to read 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5715000"/>
            <a:ext cx="9994392" cy="0"/>
          </a:xfrm>
          <a:prstGeom prst="line">
            <a:avLst/>
          </a:prstGeom>
          <a:noFill/>
          <a:ln w="9525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5870448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Preseed – Innovative Solutions Application · Ibrahim Meriç Başak · Vienna, Austria ·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Europe's financial literacy gap is expensive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9928"/>
            <a:ext cx="19659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834640" y="1709928"/>
            <a:ext cx="26517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Europeans lack basic financial literacy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OECD, 2024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72968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F4F5F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282696"/>
            <a:ext cx="19659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834640" y="3282696"/>
            <a:ext cx="26517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retail investors underperform market benchmarks — the cost of that gap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Dalbar, 2025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45736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855464"/>
            <a:ext cx="19659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$50–500K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834640" y="4855464"/>
            <a:ext cx="26517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— the price of the professional tools and guidance individuals are locked out of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pricing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2648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gap persists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6480" y="2057400"/>
            <a:ext cx="5486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tools lack scientific rigor — signal bots and screeners are sold on in-sample backtests that collapse out-of-sample.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is accountable — no provider publishes its full track record, including the misses.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is disconnected from practice — textbook courses, while decisions happen in a live market.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is regulated and expensive — professional guidance stays behind private-banking walls.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Innovative Solutions    2 / 13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newspaper that teaches you to read it — every market day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3703320"/>
          </a:xfrm>
          <a:prstGeom prst="roundRect">
            <a:avLst>
              <a:gd name="adj" fmla="val 2025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5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FinSense Literacy Lab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of the product: daily micro-lessons, quests and calibration training — every concept taught with this morning's real, dated market cases, not textbook examples. Impact area: Education.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691640"/>
            <a:ext cx="3611880" cy="3703320"/>
          </a:xfrm>
          <a:prstGeom prst="roundRect">
            <a:avLst>
              <a:gd name="adj" fmla="val 2025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/>
          <p:nvPr/>
        </p:nvSpPr>
        <p:spPr>
          <a:xfrm>
            <a:off x="4645152" y="196596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85232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Engine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45152" y="265176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lab's teaching material generator: every morning it scans 1,800+ US stocks and turns candidates into A / B / C research grades with calibrated probability bands — real cases, graded before the outcome is known.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93024" y="1691640"/>
            <a:ext cx="3611880" cy="3703320"/>
          </a:xfrm>
          <a:prstGeom prst="roundRect">
            <a:avLst>
              <a:gd name="adj" fmla="val 2025"/>
            </a:avLst>
          </a:prstGeom>
          <a:solidFill>
            <a:srgbClr val="F4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8467344" y="1965960"/>
            <a:ext cx="502920" cy="502920"/>
          </a:xfrm>
          <a:prstGeom prst="ellipse">
            <a:avLst/>
          </a:prstGeom>
          <a:solidFill>
            <a:srgbClr val="4A6F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07424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Scorecard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67344" y="265176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layer: every outcome is published — hits and misses alike. The platform holds itself to the same standard of honesty it teaches its users.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buy/sell calls. No price targets. No return promises. Only grades, probabilities and plain-language reasons.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Innovative Solutions    3 / 13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FINSENSE — THE IMPACT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financial literacy lab that improves itself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language-learning app for markets: daily micro-lessons, streaks and quests — but every exercise is built from this morning's real market and, later, from the stocks the user actually follows.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414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E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quests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tasks tied to the morning edition — read a case, predict an outcome, earn your streak. Learning happens inside the live market, not beside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6208" y="2331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/>
          <p:nvPr/>
        </p:nvSpPr>
        <p:spPr>
          <a:xfrm>
            <a:off x="6464808" y="24414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E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trainer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64808" y="278892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grade candidates before seeing the engine's grade; a personal calibration score shows exactly where their judgement is over- or under-confident.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4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24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E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Blind-spot map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7724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learns from each user's decisions and mistakes, maps their weak areas, and steers the next lessons there — personal financial analysis in service of learning.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6208" y="41148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4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6464808" y="4224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E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Self-improving content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64808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are auto-generated from the growing archive of resolved cases: every example is real, dated and graded before the outcome was known. More market days → better lab.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domains · 2 learning tracks · 120+ glossary terms · EN / DE / TR — closing Europe's financial literacy gap, one edition a day.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Innovative Solutions    4 / 13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→ Grade → Verify → Teach — one loop, every market day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627632" y="178308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14600" y="2057400"/>
            <a:ext cx="118872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arrow"/>
          </a:ln>
        </p:spPr>
      </p:sp>
      <p:sp>
        <p:nvSpPr>
          <p:cNvPr id="6" name="Text 4"/>
          <p:cNvSpPr/>
          <p:nvPr/>
        </p:nvSpPr>
        <p:spPr>
          <a:xfrm>
            <a:off x="548640" y="246888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852928"/>
            <a:ext cx="27066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1,800+ US stocks screened each morning across volatility, short interest, gap, relative volume and regime factors.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0" y="178308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58968" y="2057400"/>
            <a:ext cx="118872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arrow"/>
          </a:ln>
        </p:spPr>
      </p:sp>
      <p:sp>
        <p:nvSpPr>
          <p:cNvPr id="10" name="Text 8"/>
          <p:cNvSpPr/>
          <p:nvPr/>
        </p:nvSpPr>
        <p:spPr>
          <a:xfrm>
            <a:off x="3493008" y="246888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93008" y="2852928"/>
            <a:ext cx="27066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become A / B / C research grades with a probability sentence, 2–4 factor badges and a two-sentence rationale.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516368" y="178308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403336" y="2057400"/>
            <a:ext cx="118872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arrow"/>
          </a:ln>
        </p:spPr>
      </p:sp>
      <p:sp>
        <p:nvSpPr>
          <p:cNvPr id="14" name="Text 12"/>
          <p:cNvSpPr/>
          <p:nvPr/>
        </p:nvSpPr>
        <p:spPr>
          <a:xfrm>
            <a:off x="6437376" y="246888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37376" y="2852928"/>
            <a:ext cx="27066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days later the outcome is resolved and stamped on the public scorecard — including every miss.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460736" y="178308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381744" y="246888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381744" y="2852928"/>
            <a:ext cx="27066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day's top case becomes the day's lesson; the user's own predictions feed a personal calibration score.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95604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480560" y="4956048"/>
            <a:ext cx="457200" cy="457200"/>
          </a:xfrm>
          <a:prstGeom prst="ellipse">
            <a:avLst/>
          </a:prstGeom>
          <a:solidFill>
            <a:srgbClr val="4A6F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38160" y="4956048"/>
            <a:ext cx="457200" cy="457200"/>
          </a:xfrm>
          <a:prstGeom prst="ellipse">
            <a:avLst/>
          </a:prstGeom>
          <a:solidFill>
            <a:srgbClr val="8A8F9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48920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 — rare, ~1 per day.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strongest, fully-confirmed profile.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0" y="48920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 — strong setup.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profile with one factor still unconfirmed.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0" y="4892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 — watch stage.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Early-tier candidates used mainly for teaching.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Innovative Solutions    5 / 13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that makes the lab trustworthy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— the scoring engine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983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Volatility-aware multi-factor model: short interest, gap, relative volume, ATR and market regime — each factor validated point-in-time.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data contracts — no look-ahead: every input is stamped with what was knowable that morning.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Execution-replay infrastructure: triple-barrier P&amp;L with realistic costs, slippage and commissions.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probability bands per grade, recomputed as the archive grows.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8288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LABS — what feeds it 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2402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deep reinforcement learning line (PPO, SAC, TD3, recurrent agents) for adaptive, regime-specialised decision models.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Shadow-validation pipeline: candidate models run silently beside production until they beat it on locked data.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workflows: autonomous research agents that generate, test and document factor hypotheses.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local LLM inference for personal analysis — user data never leaves the device.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lesson stands on validated, honestly-measured analytics — the same rigor institutions use, now teaching individuals.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Innovative Solutions    6 / 13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DIFFERENTIATION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discipline is the technology</a:t>
            </a:r>
            <a:endParaRPr lang="en-US" sz="3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480560"/>
                <a:gridCol w="478231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retail tools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F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FinPilot standard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In-sample backtests, tuned until they look good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 out-of-sample tests; walk-forward audits; cluster-bootstrap statistics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claims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“Accuracy” on favorable price moves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Triple-barrier execution replay with realistic costs — precision ≠ realized P&amp;L, and we measure both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record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Wins showcased, losses deleted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scorecard of every graded call, misses included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indicators (RSI, MACD) recycled since the 1980s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Regime-aware factor research; our own tests retired RSI/MACD — and our own legacy score — when they failed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courses, disconnected from the market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Lessons auto-generated from real, dated, pre-outcome-graded cases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Innovative Solutions    7 / 13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attack our own results before the market can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BATTERY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68880" y="182880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research cycle: 30+ independent tests across factors, exits, costs and universes before any production change.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6208" y="169164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/>
          <p:nvPr/>
        </p:nvSpPr>
        <p:spPr>
          <a:xfrm>
            <a:off x="6464808" y="18288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64808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SIGNALS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56448" y="182880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archive of graded, dated, pre-outcome calls — the raw material for calibration and for FinSense case files.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4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8404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77240" y="4754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STABLE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384048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volatility edge held in every month tested, after realistic costs — our most robust, repeatedly confirmed finding.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6208" y="370332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4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6464808" y="38404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64808" y="4754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VANITY METRICS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56448" y="384048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that failed re-testing were retired — including our own legacy scoring formula. The jury sees what survived.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Honesty as strategy: the platform publishes the same rigorous, cost-adjusted numbers to users that it shows to investors.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Innovative Solutions    8 / 13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REGTECH &amp;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is architecture, not an afterthought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75564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25880" y="16459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advice language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297680" y="164592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interface contains no buy/sell recommendations, no target prices, no position sizing and no return promises — by design, on every surface. FinPilot is decision-support software, not licensed investment advice.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898648"/>
            <a:ext cx="457200" cy="457200"/>
          </a:xfrm>
          <a:prstGeom prst="ellipse">
            <a:avLst/>
          </a:prstGeom>
          <a:solidFill>
            <a:srgbClr val="4A6F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7889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auditability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297680" y="278892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published grade carries a timestamp and an engine-configuration fingerprint; the archive is immutable. Any output can be reproduced and audited after the fact.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041648"/>
            <a:ext cx="457200" cy="457200"/>
          </a:xfrm>
          <a:prstGeom prst="ellipse">
            <a:avLst/>
          </a:prstGeom>
          <a:solidFill>
            <a:srgbClr val="5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39319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Privacy-first AI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297680" y="393192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GDPR-compliant foundations today; roadmap to local LLM inference so personal financial analysis runs on the user's device — data never leaves it.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18464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50749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roadmap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297680" y="507492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remain outside licensed-advice activity today, with a prepared path toward MiFID-compliant personalised guidance as the product deepens — compliance grows with the vision.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Innovative Solutions    9 / 13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ROLLOUT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$12B market — entered where trust matters most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164592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trading &amp; investing tools market, growing ~18% CAGR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70832" y="1645920"/>
            <a:ext cx="3611880" cy="164592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/>
        </p:spPr>
      </p:sp>
      <p:sp>
        <p:nvSpPr>
          <p:cNvPr id="8" name="Text 6"/>
          <p:cNvSpPr/>
          <p:nvPr/>
        </p:nvSpPr>
        <p:spPr>
          <a:xfrm>
            <a:off x="4599432" y="1783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150M+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99432" y="2423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 retail investors in Europe alone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93024" y="1645920"/>
            <a:ext cx="3611880" cy="164592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1783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200M+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421624" y="2423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Europeans who want to learn — FinSense free tier is the wedge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5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3566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Europe first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3502152"/>
            <a:ext cx="8001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from Vienna into DACH &amp; EU: highest literacy need, EU literacy agenda tailwind, GDPR-native design as a trust advantage. US market data already powers the engine.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4A6F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4434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United States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11880" y="4370832"/>
            <a:ext cx="8001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self-directed investor base; product is US-market-native from day one, so entry is distribution, not rebuild.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534924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5303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Global, multi-market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11880" y="5239512"/>
            <a:ext cx="8001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Multi-market engine expansion (EU exchanges, then global), 5+ languages, B2B white-label as the scaling channel.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Innovative Solutions    10 / 13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 — trust first, revenue follows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AAB0BC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— Daily Brief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04672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€0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04672" y="2834640"/>
            <a:ext cx="31272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brief with 1–2 graded candidates (web + Telegram)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scorecard — full transparency for everyone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FinSense core lessons &amp; daily quests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0832" y="169164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AAB0BC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26864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— Full Edition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26864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€19–29 / mo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626864" y="2834640"/>
            <a:ext cx="31272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daily edition: all graded candidates + risk notes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calibration trainer &amp; blind-spot map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FinSense tracks, archive &amp; case-file library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93024" y="169164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AAB0BC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49056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— API &amp; White-label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449056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449056" y="2834640"/>
            <a:ext cx="31272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Graded-research feed for neobrokers &amp; fintechs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 FinSense education modules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channel for multi-market scale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 gross margin (SaaS) · education-led funnel lowers acquisition cost and churn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Innovative Solutions    11 / 13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morning paper to personal financial advisor &amp; educator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MVP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Morning Ledger: daily graded US-market editions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scorecard + validated factor engine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FinSense lessons from real archived cases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prototype; multi-agent DRL in the lab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WE ARE BUILDING TOWARD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219456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professional-grade investing experience for individuals — the quality of service today reserved for private-banking clients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AI that analyses each user's finances, decisions and learning — and coaches them to their best outcomes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working for the user: research, monitoring and workflow agents around a compliance core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Multi-market coverage: Europe → US → global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623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euro of this project funds the bridge between the two columns.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Innovative Solutions    12 / 13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Preseed – Innovative Solutions · €89,000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17320" y="1691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Engine &amp; data integrity — live public scorecard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0" y="16916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€18K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4231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FinSense impact engine: quests, calibration trainer, auto-lessons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423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€35K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31546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build-out: Morning Ledger public launch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3154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€28K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3886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GDPR &amp; security foundations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8862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€12K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6177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617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validation: beta cohort, learning-outcome metrics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46177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€18K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project · total ~€111K · ≥10% shareholder equity secured by founder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0" y="164592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24365E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219456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— public scorecard live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— Morning Ledger public launch (free daily edition)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 — calibration trainer + learning-outcome tracking live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 — 1,000 beta learners; Seedfinancing follow-up application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989320"/>
            <a:ext cx="10972800" cy="0"/>
          </a:xfrm>
          <a:prstGeom prst="line">
            <a:avLst/>
          </a:prstGeom>
          <a:noFill/>
          <a:ln w="9525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Meriç Başak · Founder, FinPilot · Vienna · mericbsk@gmail.com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52560" y="6510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· aws Preseed – Innovative Solutions    13 / 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2026-07-23T17:57:28Z</dcterms:created>
  <dcterms:modified xsi:type="dcterms:W3CDTF">2026-07-23T17:57:28Z</dcterms:modified>
</cp:coreProperties>
</file>