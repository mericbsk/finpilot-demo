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A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35440" y="45720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0" y="45720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49840" y="45720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07040" y="45720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64240" y="45720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0" y="123444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123444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49840" y="123444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0" y="123444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64240" y="123444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35440" y="201168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0" y="201168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49840" y="201168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0" y="201168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64240" y="201168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0" y="278892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0" y="278892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49840" y="278892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0" y="278892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64240" y="278892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35440" y="356616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0" y="356616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49840" y="356616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607040" y="356616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64240" y="356616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35440" y="434340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92640" y="434340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49840" y="434340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07040" y="434340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064240" y="434340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35440" y="512064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92640" y="512064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49840" y="512064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07040" y="512064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64240" y="512064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35440" y="589788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692640" y="589788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149840" y="589788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07040" y="589788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064240" y="5897880"/>
            <a:ext cx="45720" cy="45720"/>
          </a:xfrm>
          <a:prstGeom prst="ellipse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1371600"/>
            <a:ext cx="41148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1554480"/>
            <a:ext cx="27432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Fin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1720" y="1554480"/>
            <a:ext cx="36576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 i="0">
                <a:solidFill>
                  <a:srgbClr val="00B4D8"/>
                </a:solidFill>
              </a:rPr>
              <a:t>Pilot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2743200"/>
            <a:ext cx="7772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A0C4E0"/>
                </a:solidFill>
              </a:rPr>
              <a:t>KI-gestützte Investmentanalyse für alle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347472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365760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2062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0A8C0"/>
                </a:solidFill>
              </a:rPr>
              <a:t>DRL Agents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365760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42062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0A8C0"/>
                </a:solidFill>
              </a:rPr>
              <a:t>Fachgebiete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365760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€35Mrd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42062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0A8C0"/>
                </a:solidFill>
              </a:rPr>
              <a:t>Markt TAM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217920"/>
            <a:ext cx="8686800" cy="640080"/>
          </a:xfrm>
          <a:prstGeom prst="rect">
            <a:avLst/>
          </a:prstGeom>
          <a:solidFill>
            <a:srgbClr val="0A1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26364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aws Gründerfonds  ·  Seed-Runde  ·  €750.000  ·  2025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3960" y="566928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Ibrahim Meriç Başak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23960" y="60350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0C0D8"/>
                </a:solidFill>
              </a:rPr>
              <a:t>Founder &amp; CEO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303520" cy="1097280"/>
          </a:xfrm>
          <a:prstGeom prst="rect">
            <a:avLst/>
          </a:prstGeom>
          <a:solidFill>
            <a:srgbClr val="14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64008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85% der Privatanleger scheitern. Profi-Tools kosten €1.500–€3.000/Monat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5303520" cy="1097280"/>
          </a:xfrm>
          <a:prstGeom prst="rect">
            <a:avLst/>
          </a:prstGeom>
          <a:solidFill>
            <a:srgbClr val="14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64008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Lösung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KI-gestützte Analyse mit 19 DRL-Agenten — erschwinglich &amp; einfach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11879"/>
            <a:ext cx="5303520" cy="1097280"/>
          </a:xfrm>
          <a:prstGeom prst="rect">
            <a:avLst/>
          </a:prstGeom>
          <a:solidFill>
            <a:srgbClr val="14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611879"/>
            <a:ext cx="64008" cy="109728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7C54B"/>
                </a:solidFill>
              </a:rPr>
              <a:t>Technologie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69079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Deep Reinforcement Learning + LLM-Integration, patentierbar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92040"/>
            <a:ext cx="5303520" cy="1097280"/>
          </a:xfrm>
          <a:prstGeom prst="rect">
            <a:avLst/>
          </a:prstGeom>
          <a:solidFill>
            <a:srgbClr val="14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892040"/>
            <a:ext cx="64008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83479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Markt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TAM €35Mrd · SAM €4,2Mrd · SOM €180Mio (5-Jahres-Ziel)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051560"/>
            <a:ext cx="5303520" cy="1097280"/>
          </a:xfrm>
          <a:prstGeom prst="rect">
            <a:avLst/>
          </a:prstGeom>
          <a:solidFill>
            <a:srgbClr val="14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051560"/>
            <a:ext cx="64008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143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Geschäftsmodell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50876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Freemium SaaS: Free / Pro €29 / Institutional €199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331720"/>
            <a:ext cx="5303520" cy="1097280"/>
          </a:xfrm>
          <a:prstGeom prst="rect">
            <a:avLst/>
          </a:prstGeom>
          <a:solidFill>
            <a:srgbClr val="14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331720"/>
            <a:ext cx="64008" cy="109728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4231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7C54B"/>
                </a:solidFill>
              </a:rPr>
              <a:t>Traktion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78892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19 DRL-Agenten produktionsreif · 13 UI-Komponenten · bootstrapped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611879"/>
            <a:ext cx="5303520" cy="1097280"/>
          </a:xfrm>
          <a:prstGeom prst="rect">
            <a:avLst/>
          </a:prstGeom>
          <a:solidFill>
            <a:srgbClr val="14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611879"/>
            <a:ext cx="64008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703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Finanzierung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069079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€750K Seed · Break-even M14 · MRR-Ziel €1,2M (M18)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892040"/>
            <a:ext cx="5303520" cy="1097280"/>
          </a:xfrm>
          <a:prstGeom prst="rect">
            <a:avLst/>
          </a:prstGeom>
          <a:solidFill>
            <a:srgbClr val="14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892040"/>
            <a:ext cx="64008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983479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34924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1 Gründer · Erweiterung auf 4 Personen geplant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309360"/>
            <a:ext cx="11338560" cy="457200"/>
          </a:xfrm>
          <a:prstGeom prst="rect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327648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Warum JETZT? — KI-Regulierung schafft Marktfenster · Retail-Trading +340% · DRL-Moat aufgebaut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A0B8D0"/>
                </a:solidFill>
              </a:rPr>
              <a:t>Privatanleger kämpfen gegen strukturelle Nachteile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5029200"/>
          </a:xfrm>
          <a:prstGeom prst="rect">
            <a:avLst/>
          </a:prstGeom>
          <a:solidFill>
            <a:srgbClr val="12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5661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200" b="0" i="0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Informations-
asymmetrie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54680"/>
            <a:ext cx="3017520" cy="731520"/>
          </a:xfrm>
          <a:prstGeom prst="rect">
            <a:avLst/>
          </a:prstGeom>
          <a:solidFill>
            <a:srgbClr val="C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5468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85% der Privatanleger verlieren Geld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B0C8DC"/>
                </a:solidFill>
              </a:rPr>
              <a:t>Institutionelle nutzen KI-Tools seit Jahren. Retailer haben keinen Zugang.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566160" cy="5029200"/>
          </a:xfrm>
          <a:prstGeom prst="rect">
            <a:avLst/>
          </a:prstGeom>
          <a:solidFill>
            <a:srgbClr val="12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9144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63040"/>
            <a:ext cx="35661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200" b="0" i="0">
                <a:solidFill>
                  <a:srgbClr val="FFFFFF"/>
                </a:solidFill>
              </a:rPr>
              <a:t>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33172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Prohibitive
Kosten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154680"/>
            <a:ext cx="3017520" cy="731520"/>
          </a:xfrm>
          <a:prstGeom prst="rect">
            <a:avLst/>
          </a:prstGeom>
          <a:solidFill>
            <a:srgbClr val="CF9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15468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Bloomberg: EUR 2.000+/Mo · QuantConnect: EUR 1.500+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02336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B0C8DC"/>
                </a:solidFill>
              </a:rPr>
              <a:t>99% der Privatanleger koennen sich professionelle Analyse-Tools nicht leisten.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566160" cy="5029200"/>
          </a:xfrm>
          <a:prstGeom prst="rect">
            <a:avLst/>
          </a:prstGeom>
          <a:solidFill>
            <a:srgbClr val="12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356616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463040"/>
            <a:ext cx="35661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200" b="0" i="0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33172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Fragmentierung
der Daten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3154680"/>
            <a:ext cx="3017520" cy="731520"/>
          </a:xfrm>
          <a:prstGeom prst="rect">
            <a:avLst/>
          </a:prstGeom>
          <a:solidFill>
            <a:srgbClr val="008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15468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Oe 4,3 Stunden/Woche Recherche-Aufwand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02336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B0C8DC"/>
                </a:solidFill>
              </a:rPr>
              <a:t>Fundamentaldaten, Charts und News sind ueber Dutzende Plattformen verteilt.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291072"/>
            <a:ext cx="11247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Ergebnis: Privatanleger verlieren systematisch. Kein einziges Tool löst alle drei Probleme gleichzeitig.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Die Lösung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669280" cy="749808"/>
          </a:xfrm>
          <a:prstGeom prst="rect">
            <a:avLst/>
          </a:prstGeom>
          <a:solidFill>
            <a:srgbClr val="10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" cy="7498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115568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C8D8EC"/>
                </a:solidFill>
              </a:rPr>
              <a:t>19 spezialisierte DRL-Agenten analysieren Maerkte in Echtzeit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5669280" cy="749808"/>
          </a:xfrm>
          <a:prstGeom prst="rect">
            <a:avLst/>
          </a:prstGeom>
          <a:solidFill>
            <a:srgbClr val="10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54864" cy="7498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39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84248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C8D8EC"/>
                </a:solidFill>
              </a:rPr>
              <a:t>Exp3 Meta-Learner waehlt optimale Strategie dynamisch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5669280" cy="749808"/>
          </a:xfrm>
          <a:prstGeom prst="rect">
            <a:avLst/>
          </a:prstGeom>
          <a:solidFill>
            <a:srgbClr val="10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54864" cy="7498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8892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NLP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852928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C8D8EC"/>
                </a:solidFill>
              </a:rPr>
              <a:t>LLM-Integration: natuerlichsprachliche Erklaerungen jeder Analyse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11879"/>
            <a:ext cx="5669280" cy="749808"/>
          </a:xfrm>
          <a:prstGeom prst="rect">
            <a:avLst/>
          </a:prstGeom>
          <a:solidFill>
            <a:srgbClr val="10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611879"/>
            <a:ext cx="54864" cy="7498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57599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BT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721607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C8D8EC"/>
                </a:solidFill>
              </a:rPr>
              <a:t>Backtesting ueber 10 Jahre historische Daten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80560"/>
            <a:ext cx="5669280" cy="749808"/>
          </a:xfrm>
          <a:prstGeom prst="rect">
            <a:avLst/>
          </a:prstGeom>
          <a:solidFill>
            <a:srgbClr val="10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480560"/>
            <a:ext cx="54864" cy="7498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52628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90288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C8D8EC"/>
                </a:solidFill>
              </a:rPr>
              <a:t>Two-Mode UI: Simple (Einsteiger) &amp; Professional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49240"/>
            <a:ext cx="5669280" cy="749808"/>
          </a:xfrm>
          <a:prstGeom prst="rect">
            <a:avLst/>
          </a:prstGeom>
          <a:solidFill>
            <a:srgbClr val="10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349240"/>
            <a:ext cx="54864" cy="7498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394959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$$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458968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C8D8EC"/>
                </a:solidFill>
              </a:rPr>
              <a:t>Erschwinglich: 95% guenstiger als institutionelle Tools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914400"/>
            <a:ext cx="5486400" cy="5486400"/>
          </a:xfrm>
          <a:prstGeom prst="rect">
            <a:avLst/>
          </a:prstGeom>
          <a:solidFill>
            <a:srgbClr val="0A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005840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02C39A"/>
                </a:solidFill>
              </a:rPr>
              <a:t>DRL-Architektur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1554480"/>
            <a:ext cx="5120640" cy="54864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1554480"/>
            <a:ext cx="5120640" cy="548640"/>
          </a:xfrm>
          <a:prstGeom prst="rect">
            <a:avLst/>
          </a:prstGeom>
          <a:solidFill>
            <a:srgbClr val="08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7C54B"/>
                </a:solidFill>
              </a:rPr>
              <a:t>Exp3 Meta-Learner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286000"/>
            <a:ext cx="51206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75120" y="2286000"/>
            <a:ext cx="5120640" cy="502920"/>
          </a:xfrm>
          <a:prstGeom prst="rect">
            <a:avLst/>
          </a:prstGeom>
          <a:solidFill>
            <a:srgbClr val="08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B4D8"/>
                </a:solidFill>
              </a:rPr>
              <a:t>19 DRL-Agenten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2926080"/>
            <a:ext cx="512064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75120" y="2926080"/>
            <a:ext cx="5120640" cy="502920"/>
          </a:xfrm>
          <a:prstGeom prst="rect">
            <a:avLst/>
          </a:prstGeom>
          <a:solidFill>
            <a:srgbClr val="08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2C39A"/>
                </a:solidFill>
              </a:rPr>
              <a:t>7 Fachgebiete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3566160"/>
            <a:ext cx="5120640" cy="502920"/>
          </a:xfrm>
          <a:prstGeom prst="rect">
            <a:avLst/>
          </a:prstGeom>
          <a:solidFill>
            <a:srgbClr val="908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75120" y="3566160"/>
            <a:ext cx="5120640" cy="502920"/>
          </a:xfrm>
          <a:prstGeom prst="rect">
            <a:avLst/>
          </a:prstGeom>
          <a:solidFill>
            <a:srgbClr val="08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9080D0"/>
                </a:solidFill>
              </a:rPr>
              <a:t>LLM-Integration (Erklärungen)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4206240"/>
            <a:ext cx="5120640" cy="502920"/>
          </a:xfrm>
          <a:prstGeom prst="rect">
            <a:avLst/>
          </a:prstGeom>
          <a:solidFill>
            <a:srgbClr val="6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75120" y="4206240"/>
            <a:ext cx="5120640" cy="502920"/>
          </a:xfrm>
          <a:prstGeom prst="rect">
            <a:avLst/>
          </a:prstGeom>
          <a:solidFill>
            <a:srgbClr val="08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6080A0"/>
                </a:solidFill>
              </a:rPr>
              <a:t>Echtzeit-Marktdaten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2560" y="2167128"/>
            <a:ext cx="411480" cy="137160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06840" y="2121408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52560" y="2807208"/>
            <a:ext cx="411480" cy="137160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06840" y="2761488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52560" y="3447288"/>
            <a:ext cx="411480" cy="137160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06840" y="3401568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4087368"/>
            <a:ext cx="411480" cy="137160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06840" y="4041648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5029200"/>
            <a:ext cx="1188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5468112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80A0C0"/>
                </a:solidFill>
              </a:rPr>
              <a:t>Agenten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5029200"/>
            <a:ext cx="1188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8120" y="5468112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80A0C0"/>
                </a:solidFill>
              </a:rPr>
              <a:t>Strategien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5029200"/>
            <a:ext cx="1188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24/7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98280" y="5468112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80A0C0"/>
                </a:solidFill>
              </a:rPr>
              <a:t>Analyse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78440" y="5029200"/>
            <a:ext cx="1188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1 Sek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78440" y="5468112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80A0C0"/>
                </a:solidFill>
              </a:rPr>
              <a:t>Reaktion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Das Produkt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Zwei Modi — eine Plattform für alle Erfahrungsstufen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48640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53035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Simple Mode  •  Für Einsteiger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57784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15568"/>
            <a:ext cx="53949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7C54B"/>
                </a:solidFill>
              </a:rPr>
              <a:t>Professional Mode  •  Für Fortgeschrittene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691640"/>
            <a:ext cx="26517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246887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14600"/>
            <a:ext cx="246887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E293B"/>
                </a:solidFill>
              </a:rPr>
              <a:t>KI-Scanner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1752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Scannt 500+ Aktien taeglich
nach Handelssignalen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169164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1691640"/>
            <a:ext cx="265176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16916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1828800"/>
            <a:ext cx="246887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KI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514600"/>
            <a:ext cx="246887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E293B"/>
                </a:solidFill>
              </a:rPr>
              <a:t>KI-Analyse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01752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Tiefenanalyse mit DRL-
Agenten &amp; Risikoprofil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69164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691640"/>
            <a:ext cx="2651760" cy="64008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6916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828800"/>
            <a:ext cx="246887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BT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2514600"/>
            <a:ext cx="246887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E293B"/>
                </a:solidFill>
              </a:rPr>
              <a:t>Backtesting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01752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10 Jahre Daten · Multiple
Strategien vergleichen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1691640"/>
            <a:ext cx="2651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26880" y="1691640"/>
            <a:ext cx="26517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26880" y="16916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19" y="1828800"/>
            <a:ext cx="246887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19" y="2514600"/>
            <a:ext cx="246887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E293B"/>
                </a:solidFill>
              </a:rP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301752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Portfolio-Uebersicht &amp;
Echtzeit-Performance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160520"/>
            <a:ext cx="11430000" cy="36576"/>
          </a:xfrm>
          <a:prstGeom prst="rect">
            <a:avLst/>
          </a:prstGeom>
          <a:solidFill>
            <a:srgbClr val="CC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2976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Alleinstellungsmerkmale: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70916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+  Natuerlichsprachliche Erklaerungen jeder KI-Entscheidung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70916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+  Risk-adjusted Empfehlungen mit Konfidenzwert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30352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+  Echte Marktdaten + News-Sentiment in Echtzeit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30352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+  Export: PDF-Reports, API-Zugang (Professional)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Technologie &amp; Wettbewerbsmoat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600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Ebene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097280"/>
            <a:ext cx="21488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143000"/>
            <a:ext cx="2057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Technologie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97280"/>
            <a:ext cx="224028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143000"/>
            <a:ext cx="2148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Details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54480"/>
            <a:ext cx="1600200" cy="62179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4592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Frontend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1554480"/>
            <a:ext cx="2148840" cy="62179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1645920"/>
            <a:ext cx="201167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7C54B"/>
                </a:solidFill>
              </a:rPr>
              <a:t>React + TypeScript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554480"/>
            <a:ext cx="2240280" cy="62179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164592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0C8E0"/>
                </a:solidFill>
              </a:rPr>
              <a:t>Responsive, Two-Mode 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12848"/>
            <a:ext cx="1600200" cy="621792"/>
          </a:xfrm>
          <a:prstGeom prst="rect">
            <a:avLst/>
          </a:prstGeom>
          <a:solidFill>
            <a:srgbClr val="0E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304288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Backend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2212848"/>
            <a:ext cx="2148840" cy="621792"/>
          </a:xfrm>
          <a:prstGeom prst="rect">
            <a:avLst/>
          </a:prstGeom>
          <a:solidFill>
            <a:srgbClr val="0E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2304288"/>
            <a:ext cx="201167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7C54B"/>
                </a:solidFill>
              </a:rPr>
              <a:t>FastAPI + PostgreSQL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212848"/>
            <a:ext cx="2240280" cy="621792"/>
          </a:xfrm>
          <a:prstGeom prst="rect">
            <a:avLst/>
          </a:prstGeom>
          <a:solidFill>
            <a:srgbClr val="0E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2304288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0C8E0"/>
                </a:solidFill>
              </a:rPr>
              <a:t>REST-API, Celery Workers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871215"/>
            <a:ext cx="1600200" cy="62179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962656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DRL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2871215"/>
            <a:ext cx="2148840" cy="62179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2962656"/>
            <a:ext cx="201167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7C54B"/>
                </a:solidFill>
              </a:rPr>
              <a:t>PyTorch + Stable-B3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2871215"/>
            <a:ext cx="2240280" cy="62179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79" y="2962656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0C8E0"/>
                </a:solidFill>
              </a:rPr>
              <a:t>19 Agenten, Exp3 Meta-Learner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529584"/>
            <a:ext cx="1600200" cy="621792"/>
          </a:xfrm>
          <a:prstGeom prst="rect">
            <a:avLst/>
          </a:prstGeom>
          <a:solidFill>
            <a:srgbClr val="0E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21024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LLM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3529584"/>
            <a:ext cx="2148840" cy="621792"/>
          </a:xfrm>
          <a:prstGeom prst="rect">
            <a:avLst/>
          </a:prstGeom>
          <a:solidFill>
            <a:srgbClr val="0E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3120" y="3621024"/>
            <a:ext cx="201167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7C54B"/>
                </a:solidFill>
              </a:rPr>
              <a:t>GPT-4 / Claude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3529584"/>
            <a:ext cx="2240280" cy="621792"/>
          </a:xfrm>
          <a:prstGeom prst="rect">
            <a:avLst/>
          </a:prstGeom>
          <a:solidFill>
            <a:srgbClr val="0E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79" y="3621024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0C8E0"/>
                </a:solidFill>
              </a:rPr>
              <a:t>Erklärungen, Marktanalyse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187952"/>
            <a:ext cx="1600200" cy="62179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279392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Cache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4187952"/>
            <a:ext cx="2148840" cy="62179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0" y="4279392"/>
            <a:ext cx="201167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7C54B"/>
                </a:solidFill>
              </a:rPr>
              <a:t>Redis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4187952"/>
            <a:ext cx="2240280" cy="621792"/>
          </a:xfrm>
          <a:prstGeom prst="rect">
            <a:avLst/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4279392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0C8E0"/>
                </a:solidFill>
              </a:rPr>
              <a:t>Echtzeit-Daten, ≤50ms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846320"/>
            <a:ext cx="1600200" cy="621792"/>
          </a:xfrm>
          <a:prstGeom prst="rect">
            <a:avLst/>
          </a:prstGeom>
          <a:solidFill>
            <a:srgbClr val="0E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937759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Deployment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0" y="4846320"/>
            <a:ext cx="2148840" cy="621792"/>
          </a:xfrm>
          <a:prstGeom prst="rect">
            <a:avLst/>
          </a:prstGeom>
          <a:solidFill>
            <a:srgbClr val="0E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0" y="4937759"/>
            <a:ext cx="201167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7C54B"/>
                </a:solidFill>
              </a:rPr>
              <a:t>AWS ECS + Fargate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846320"/>
            <a:ext cx="2240280" cy="621792"/>
          </a:xfrm>
          <a:prstGeom prst="rect">
            <a:avLst/>
          </a:prstGeom>
          <a:solidFill>
            <a:srgbClr val="0E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79" y="4937759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0C8E0"/>
                </a:solidFill>
              </a:rPr>
              <a:t>Auto-scaling, 99.9% SLA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1005840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Technologische Moats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1554480"/>
            <a:ext cx="2560320" cy="1828800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83680" y="1554480"/>
            <a:ext cx="2560320" cy="54864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164592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7C54B"/>
                </a:solidFill>
              </a:rPr>
              <a:t>Exp3 Meta-Learner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2743200"/>
            <a:ext cx="2377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0C0D8"/>
                </a:solidFill>
              </a:rPr>
              <a:t>Patentierbar. Waehlt optimale
Strategie dynamisch.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6880" y="1554480"/>
            <a:ext cx="2560320" cy="1828800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326880" y="1554480"/>
            <a:ext cx="25603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19" y="164592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19" y="23317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19 DRL-Agenten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19" y="2743200"/>
            <a:ext cx="2377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0C0D8"/>
                </a:solidFill>
              </a:rPr>
              <a:t>Tiefe Spezialisierung,
kein Konkurrent hat dies.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0" y="3566160"/>
            <a:ext cx="2560320" cy="1828800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83680" y="3566160"/>
            <a:ext cx="256032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0" y="365760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434340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02C39A"/>
                </a:solidFill>
              </a:rPr>
              <a:t>LLM-Erklaerungen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4754880"/>
            <a:ext cx="2377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0C0D8"/>
                </a:solidFill>
              </a:rPr>
              <a:t>Jede KI-Entscheidung
verstaendlich erklaert.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26880" y="3566160"/>
            <a:ext cx="2560320" cy="1828800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326880" y="3566160"/>
            <a:ext cx="2560320" cy="54864"/>
          </a:xfrm>
          <a:prstGeom prst="rect">
            <a:avLst/>
          </a:prstGeom>
          <a:solidFill>
            <a:srgbClr val="907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18319" y="365760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18319" y="434340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9070D0"/>
                </a:solidFill>
              </a:rPr>
              <a:t>10J Backtesting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19" y="4754880"/>
            <a:ext cx="2377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0C0D8"/>
                </a:solidFill>
              </a:rPr>
              <a:t>Validiertes Modell,
nicht nur Theorie.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6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6281928"/>
            <a:ext cx="1828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19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656539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7090B0"/>
                </a:solidFill>
              </a:rPr>
              <a:t>DRL Agenten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80" y="6281928"/>
            <a:ext cx="1828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26080" y="656539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7090B0"/>
                </a:solidFill>
              </a:rPr>
              <a:t>Spezialisierungen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20640" y="6281928"/>
            <a:ext cx="1828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≤50ms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20640" y="656539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7090B0"/>
                </a:solidFill>
              </a:rPr>
              <a:t>Latenz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199" y="6281928"/>
            <a:ext cx="1828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99.9%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199" y="656539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7090B0"/>
                </a:solidFill>
              </a:rPr>
              <a:t>Uptime SLA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09760" y="6281928"/>
            <a:ext cx="1828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10J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09760" y="656539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7090B0"/>
                </a:solidFill>
              </a:rPr>
              <a:t>Trainingsdaten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Marktgroesse &amp; Chance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Wachsender 35Mrd-Markt mit strukturellen Tailwinds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645920"/>
            <a:ext cx="3840480" cy="3840480"/>
          </a:xfrm>
          <a:prstGeom prst="ellipse">
            <a:avLst/>
          </a:prstGeom>
          <a:solidFill>
            <a:srgbClr val="0D1B3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2286000"/>
            <a:ext cx="2560320" cy="2560320"/>
          </a:xfrm>
          <a:prstGeom prst="ellipse">
            <a:avLst/>
          </a:prstGeom>
          <a:solidFill>
            <a:srgbClr val="0096C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20240" y="3017520"/>
            <a:ext cx="1097280" cy="1097280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A0C8EC"/>
                </a:solidFill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EUR 35 Mrd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96C8"/>
                </a:solidFill>
              </a:rPr>
              <a:t>SAM  EUR 4,2 Mrd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0896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SOM  EUR 180 Mio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00584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Markt-Treiber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554480"/>
            <a:ext cx="39319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554480"/>
            <a:ext cx="54864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627632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+340%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12140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Retail-Trading-Wachstum 2020-2024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2788920"/>
            <a:ext cx="39319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2788920"/>
            <a:ext cx="54864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862072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KI-Reg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35584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MiFID III / ESMA-Vorschriften ab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4023360"/>
            <a:ext cx="39319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4023360"/>
            <a:ext cx="54864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4096512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22 Mio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59028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Retail-Anleger in DACH-Region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5257800"/>
            <a:ext cx="39319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79" y="5257800"/>
            <a:ext cx="54864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5330952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$500Mrd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582472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Globale Fintech-Investitionen p.a.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852160"/>
            <a:ext cx="1143000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852160"/>
            <a:ext cx="54864" cy="7772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89788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A0C4E0"/>
                </a:solidFill>
              </a:rPr>
              <a:t>Zielgruppe:  Retail-Anleger 25–55 Jahre · FinTech-Affine · Semi-Professional Trader · Asset Manager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Geschäftsmodell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57600" cy="4754880"/>
          </a:xfrm>
          <a:prstGeom prst="rect">
            <a:avLst/>
          </a:prstGeom>
          <a:solidFill>
            <a:srgbClr val="10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657600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39"/>
            <a:ext cx="3383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64748B"/>
                </a:solidFill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€0 / Monat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32918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B8D4EC"/>
                </a:solidFill>
              </a:rPr>
              <a:t>✓  5 Aktienanalysen/Tag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44368"/>
            <a:ext cx="32918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B8D4EC"/>
                </a:solidFill>
              </a:rPr>
              <a:t>✓  Basic Scanner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19856"/>
            <a:ext cx="32918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B8D4EC"/>
                </a:solidFill>
              </a:rPr>
              <a:t>✓  1 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95344"/>
            <a:ext cx="32918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B8D4EC"/>
                </a:solidFill>
              </a:rPr>
              <a:t>✓  Community-Zugang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097280"/>
            <a:ext cx="3657600" cy="4754880"/>
          </a:xfrm>
          <a:prstGeom prst="rect">
            <a:avLst/>
          </a:prstGeom>
          <a:solidFill>
            <a:srgbClr val="04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097280"/>
            <a:ext cx="36576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051560"/>
            <a:ext cx="3749039" cy="4846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1097280"/>
            <a:ext cx="3657600" cy="4754880"/>
          </a:xfrm>
          <a:prstGeom prst="rect">
            <a:avLst/>
          </a:prstGeom>
          <a:solidFill>
            <a:srgbClr val="04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234439"/>
            <a:ext cx="3383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78308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€29 / Monat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450591"/>
            <a:ext cx="2743200" cy="292608"/>
          </a:xfrm>
          <a:prstGeom prst="rect">
            <a:avLst/>
          </a:prstGeom>
          <a:solidFill>
            <a:srgbClr val="01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468880"/>
            <a:ext cx="3474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★  BELIEBTESTE WAHL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880360"/>
            <a:ext cx="32918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B8D4EC"/>
                </a:solidFill>
              </a:rPr>
              <a:t>✓  Unbegrenzte Analysen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355848"/>
            <a:ext cx="32918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B8D4EC"/>
                </a:solidFill>
              </a:rPr>
              <a:t>✓  Full DRL-Engine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831335"/>
            <a:ext cx="32918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B8D4EC"/>
                </a:solidFill>
              </a:rPr>
              <a:t>✓  5 Portfolios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306824"/>
            <a:ext cx="32918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B8D4EC"/>
                </a:solidFill>
              </a:rPr>
              <a:t>✓  Backtesting 10J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782312"/>
            <a:ext cx="32918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B8D4EC"/>
                </a:solidFill>
              </a:rPr>
              <a:t>✓  API-Zugang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257800"/>
            <a:ext cx="32918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B8D4EC"/>
                </a:solidFill>
              </a:rPr>
              <a:t>✓  E-Mail-Alerts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1097280"/>
            <a:ext cx="3657600" cy="4754880"/>
          </a:xfrm>
          <a:prstGeom prst="rect">
            <a:avLst/>
          </a:prstGeom>
          <a:solidFill>
            <a:srgbClr val="10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1097280"/>
            <a:ext cx="3657600" cy="9144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1234439"/>
            <a:ext cx="3383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7C54B"/>
                </a:solidFill>
              </a:rPr>
              <a:t>INSTITUTIONAL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178308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€199 / Monat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468880"/>
            <a:ext cx="32918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B8D4EC"/>
                </a:solidFill>
              </a:rPr>
              <a:t>✓  Alles in Pro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944368"/>
            <a:ext cx="32918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B8D4EC"/>
                </a:solidFill>
              </a:rPr>
              <a:t>✓  White-Label Option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419856"/>
            <a:ext cx="32918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B8D4EC"/>
                </a:solidFill>
              </a:rPr>
              <a:t>✓  Priority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895344"/>
            <a:ext cx="32918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B8D4EC"/>
                </a:solidFill>
              </a:rPr>
              <a:t>✓  Custom DRL-Training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370832"/>
            <a:ext cx="32918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B8D4EC"/>
                </a:solidFill>
              </a:rPr>
              <a:t>✓  Team-Accounts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846320"/>
            <a:ext cx="32918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B8D4EC"/>
                </a:solidFill>
              </a:rPr>
              <a:t>✓  SLA 99.9%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943600"/>
            <a:ext cx="11430000" cy="731520"/>
          </a:xfrm>
          <a:prstGeom prst="rect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989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7C54B"/>
                </a:solidFill>
              </a:rPr>
              <a:t>Weitere Einnahmequellen: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989320"/>
            <a:ext cx="20116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0C0DC"/>
                </a:solidFill>
              </a:rPr>
              <a:t>SaaS-Abos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5989320"/>
            <a:ext cx="20116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0C0DC"/>
                </a:solidFill>
              </a:rPr>
              <a:t>API-Lizenzen B2B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5989320"/>
            <a:ext cx="20116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0C0DC"/>
                </a:solidFill>
              </a:rPr>
              <a:t>Premium-Daten-Feeds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5989320"/>
            <a:ext cx="20116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0C0DC"/>
                </a:solidFill>
              </a:rPr>
              <a:t>FinPilot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Wettbewerbsanalyse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FinPilot schließt eine klare Marktlücke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743200" cy="5486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097280"/>
            <a:ext cx="1572768" cy="548640"/>
          </a:xfrm>
          <a:prstGeom prst="rect">
            <a:avLst/>
          </a:prstGeom>
          <a:solidFill>
            <a:srgbClr val="04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79" y="109728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FinPilot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097280"/>
            <a:ext cx="1572768" cy="548640"/>
          </a:xfrm>
          <a:prstGeom prst="rect">
            <a:avLst/>
          </a:prstGeom>
          <a:solidFill>
            <a:srgbClr val="0E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09728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TradingView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097280"/>
            <a:ext cx="1572768" cy="548640"/>
          </a:xfrm>
          <a:prstGeom prst="rect">
            <a:avLst/>
          </a:prstGeom>
          <a:solidFill>
            <a:srgbClr val="0E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09728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QuantConnect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097280"/>
            <a:ext cx="1572768" cy="548640"/>
          </a:xfrm>
          <a:prstGeom prst="rect">
            <a:avLst/>
          </a:prstGeom>
          <a:solidFill>
            <a:srgbClr val="0E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09728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Koyfin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097280"/>
            <a:ext cx="1664207" cy="548640"/>
          </a:xfrm>
          <a:prstGeom prst="rect">
            <a:avLst/>
          </a:prstGeom>
          <a:solidFill>
            <a:srgbClr val="0E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097280"/>
            <a:ext cx="1645919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Bloomberg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691640"/>
            <a:ext cx="269748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1691640"/>
            <a:ext cx="457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764792"/>
            <a:ext cx="25603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DRL-KI-Engine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1691640"/>
            <a:ext cx="1572768" cy="566928"/>
          </a:xfrm>
          <a:prstGeom prst="rect">
            <a:avLst/>
          </a:prstGeom>
          <a:solidFill>
            <a:srgbClr val="E8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1783080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2C39A"/>
                </a:solidFill>
              </a:rPr>
              <a:t>JA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1691640"/>
            <a:ext cx="1572768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1783080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691640"/>
            <a:ext cx="1572768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783080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1691640"/>
            <a:ext cx="1572768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1783080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1691640"/>
            <a:ext cx="1664207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1783080"/>
            <a:ext cx="1664207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95144"/>
            <a:ext cx="2697480" cy="566928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2295144"/>
            <a:ext cx="457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368296"/>
            <a:ext cx="25603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LLM-Erklärungen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2295144"/>
            <a:ext cx="1572768" cy="566928"/>
          </a:xfrm>
          <a:prstGeom prst="rect">
            <a:avLst/>
          </a:prstGeom>
          <a:solidFill>
            <a:srgbClr val="E8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0" y="2386584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2C39A"/>
                </a:solidFill>
              </a:rPr>
              <a:t>JA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2295144"/>
            <a:ext cx="1572768" cy="566928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2386584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2295144"/>
            <a:ext cx="1572768" cy="566928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386584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2295144"/>
            <a:ext cx="1572768" cy="566928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2386584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2295144"/>
            <a:ext cx="1664207" cy="566928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2386584"/>
            <a:ext cx="1664207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Teilw.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2898648"/>
            <a:ext cx="269748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2898648"/>
            <a:ext cx="457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2971800"/>
            <a:ext cx="25603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&lt; €30/Mo für Privat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08960" y="2898648"/>
            <a:ext cx="1572768" cy="566928"/>
          </a:xfrm>
          <a:prstGeom prst="rect">
            <a:avLst/>
          </a:prstGeom>
          <a:solidFill>
            <a:srgbClr val="E8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0" y="2990088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2C39A"/>
                </a:solidFill>
              </a:rPr>
              <a:t>JA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2898648"/>
            <a:ext cx="1572768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0" y="2990088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2C39A"/>
                </a:solidFill>
              </a:rPr>
              <a:t>JA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2898648"/>
            <a:ext cx="1572768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2990088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2898648"/>
            <a:ext cx="1572768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0" y="2990088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2C39A"/>
                </a:solidFill>
              </a:rPr>
              <a:t>JA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92640" y="2898648"/>
            <a:ext cx="1664207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0" y="2990088"/>
            <a:ext cx="1664207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502152"/>
            <a:ext cx="2697480" cy="566928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5760" y="3502152"/>
            <a:ext cx="457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3575304"/>
            <a:ext cx="25603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Backtesting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08960" y="3502152"/>
            <a:ext cx="1572768" cy="566928"/>
          </a:xfrm>
          <a:prstGeom prst="rect">
            <a:avLst/>
          </a:prstGeom>
          <a:solidFill>
            <a:srgbClr val="E8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0" y="3593592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2C39A"/>
                </a:solidFill>
              </a:rPr>
              <a:t>JA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54880" y="3502152"/>
            <a:ext cx="1572768" cy="566928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0" y="3593592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2C39A"/>
                </a:solidFill>
              </a:rPr>
              <a:t>JA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3502152"/>
            <a:ext cx="1572768" cy="566928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3593592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2C39A"/>
                </a:solidFill>
              </a:rPr>
              <a:t>JA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46720" y="3502152"/>
            <a:ext cx="1572768" cy="566928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46720" y="3593592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92640" y="3502152"/>
            <a:ext cx="1664207" cy="566928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92640" y="3593592"/>
            <a:ext cx="1664207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2C39A"/>
                </a:solidFill>
              </a:rPr>
              <a:t>JA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105656"/>
            <a:ext cx="269748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5760" y="4105656"/>
            <a:ext cx="457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20" y="4178808"/>
            <a:ext cx="25603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Simple Mode (Einsteiger)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108960" y="4105656"/>
            <a:ext cx="1572768" cy="566928"/>
          </a:xfrm>
          <a:prstGeom prst="rect">
            <a:avLst/>
          </a:prstGeom>
          <a:solidFill>
            <a:srgbClr val="E8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108960" y="4197096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2C39A"/>
                </a:solidFill>
              </a:rPr>
              <a:t>JA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754880" y="4105656"/>
            <a:ext cx="1572768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54880" y="4197096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05656"/>
            <a:ext cx="1572768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0" y="4197096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46720" y="4105656"/>
            <a:ext cx="1572768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46720" y="4197096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Teilw.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692640" y="4105656"/>
            <a:ext cx="1664207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692640" y="4197096"/>
            <a:ext cx="1664207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4709160"/>
            <a:ext cx="2697480" cy="566928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" y="4709160"/>
            <a:ext cx="457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4782312"/>
            <a:ext cx="25603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Institutionelle Tiefe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108960" y="4709160"/>
            <a:ext cx="1572768" cy="566928"/>
          </a:xfrm>
          <a:prstGeom prst="rect">
            <a:avLst/>
          </a:prstGeom>
          <a:solidFill>
            <a:srgbClr val="E8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108960" y="4800600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2C39A"/>
                </a:solidFill>
              </a:rPr>
              <a:t>JA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754880" y="4709160"/>
            <a:ext cx="1572768" cy="566928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54880" y="4800600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00800" y="4709160"/>
            <a:ext cx="1572768" cy="566928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00800" y="4800600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2C39A"/>
                </a:solidFill>
              </a:rPr>
              <a:t>JA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046720" y="4709160"/>
            <a:ext cx="1572768" cy="566928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046720" y="4800600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692640" y="4709160"/>
            <a:ext cx="1664207" cy="566928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92640" y="4800600"/>
            <a:ext cx="1664207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2C39A"/>
                </a:solidFill>
              </a:rPr>
              <a:t>JA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5760" y="5312664"/>
            <a:ext cx="269748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65760" y="5312664"/>
            <a:ext cx="457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2920" y="5385816"/>
            <a:ext cx="25603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19+ Spezialisierungen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108960" y="5312664"/>
            <a:ext cx="1572768" cy="566928"/>
          </a:xfrm>
          <a:prstGeom prst="rect">
            <a:avLst/>
          </a:prstGeom>
          <a:solidFill>
            <a:srgbClr val="E8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108960" y="5404104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2C39A"/>
                </a:solidFill>
              </a:rPr>
              <a:t>JA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54880" y="5312664"/>
            <a:ext cx="1572768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54880" y="5404104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400800" y="5312664"/>
            <a:ext cx="1572768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0" y="5404104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46720" y="5312664"/>
            <a:ext cx="1572768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046720" y="5404104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692640" y="5312664"/>
            <a:ext cx="1664207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692640" y="5404104"/>
            <a:ext cx="1664207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NEIN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65760" y="5943600"/>
            <a:ext cx="11430000" cy="685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65760" y="5943600"/>
            <a:ext cx="54864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8640" y="598932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FinPilot ist das einzige Tool, das DRL-KI + Erklärbarkeit + Erschwinglichkeit kombiniert — eine echte Marktlücke.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Traktion &amp; Entwicklungsstand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881360" cy="73152"/>
          </a:xfrm>
          <a:prstGeom prst="rect">
            <a:avLst/>
          </a:prstGeom>
          <a:solidFill>
            <a:srgbClr val="3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1691640"/>
            <a:ext cx="347472" cy="34747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65960" y="2057400"/>
            <a:ext cx="54864" cy="10972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00400"/>
            <a:ext cx="2560320" cy="1645920"/>
          </a:xfrm>
          <a:prstGeom prst="rect">
            <a:avLst/>
          </a:prstGeom>
          <a:solidFill>
            <a:srgbClr val="0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64008" cy="1645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4748B"/>
                </a:solidFill>
              </a:rPr>
              <a:t>H2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39312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Konzept &amp; Architektur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22860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C0D8"/>
                </a:solidFill>
              </a:rPr>
              <a:t>DRL-Forschung abgeschlossen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1691640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60" y="2057400"/>
            <a:ext cx="54864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3200400"/>
            <a:ext cx="2560320" cy="1645920"/>
          </a:xfrm>
          <a:prstGeom prst="rect">
            <a:avLst/>
          </a:prstGeom>
          <a:solidFill>
            <a:srgbClr val="0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3200400"/>
            <a:ext cx="64008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Q1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639312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MVP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069080"/>
            <a:ext cx="22860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C0D8"/>
                </a:solidFill>
              </a:rPr>
              <a:t>19 DRL-Agenten live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0" y="1691640"/>
            <a:ext cx="347472" cy="3474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60" y="2057400"/>
            <a:ext cx="54864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200400"/>
            <a:ext cx="2560320" cy="1645920"/>
          </a:xfrm>
          <a:prstGeom prst="rect">
            <a:avLst/>
          </a:prstGeom>
          <a:solidFill>
            <a:srgbClr val="0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200400"/>
            <a:ext cx="64008" cy="1645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Q2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639312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Beta-Launch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069080"/>
            <a:ext cx="22860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C0D8"/>
                </a:solidFill>
              </a:rPr>
              <a:t>Erste Nutzer onboarded</a:t>
            </a:r>
          </a:p>
        </p:txBody>
      </p:sp>
      <p:sp>
        <p:nvSpPr>
          <p:cNvPr id="28" name="Oval 27"/>
          <p:cNvSpPr/>
          <p:nvPr/>
        </p:nvSpPr>
        <p:spPr>
          <a:xfrm>
            <a:off x="10058400" y="1691640"/>
            <a:ext cx="347472" cy="347472"/>
          </a:xfrm>
          <a:prstGeom prst="ellipse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95559" y="2057400"/>
            <a:ext cx="54864" cy="109728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69680" y="3200400"/>
            <a:ext cx="2560320" cy="1645920"/>
          </a:xfrm>
          <a:prstGeom prst="rect">
            <a:avLst/>
          </a:prstGeom>
          <a:solidFill>
            <a:srgbClr val="0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69680" y="3200400"/>
            <a:ext cx="64008" cy="164592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7C54B"/>
                </a:solidFill>
              </a:rPr>
              <a:t>Q3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639312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Seed-Finanzierung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069080"/>
            <a:ext cx="22860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C0D8"/>
                </a:solidFill>
              </a:rPr>
              <a:t>€750K Ziel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074920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Technische Reife: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532120"/>
            <a:ext cx="2606040" cy="1188720"/>
          </a:xfrm>
          <a:prstGeom prst="rect">
            <a:avLst/>
          </a:prstGeom>
          <a:solidFill>
            <a:srgbClr val="0A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532120"/>
            <a:ext cx="6400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623559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00B4D8"/>
                </a:solidFill>
              </a:rPr>
              <a:t>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2179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0B0D0"/>
                </a:solidFill>
              </a:rPr>
              <a:t>DRL-Agenten
produktionsreif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40" y="5532120"/>
            <a:ext cx="2606040" cy="1188720"/>
          </a:xfrm>
          <a:prstGeom prst="rect">
            <a:avLst/>
          </a:prstGeom>
          <a:solidFill>
            <a:srgbClr val="0A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91840" y="5532120"/>
            <a:ext cx="64008" cy="1188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0" y="5623559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02C39A"/>
                </a:solidFill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62179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0B0D0"/>
                </a:solidFill>
              </a:rPr>
              <a:t>UI-Komponenten
implementiert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5532120"/>
            <a:ext cx="2606040" cy="1188720"/>
          </a:xfrm>
          <a:prstGeom prst="rect">
            <a:avLst/>
          </a:prstGeom>
          <a:solidFill>
            <a:srgbClr val="0A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5532120"/>
            <a:ext cx="64008" cy="118872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5623559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7C54B"/>
                </a:solidFill>
              </a:rPr>
              <a:t>100%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62179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0B0D0"/>
                </a:solidFill>
              </a:rPr>
              <a:t>Bootstrapped
bisher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61120" y="5532120"/>
            <a:ext cx="2606040" cy="1188720"/>
          </a:xfrm>
          <a:prstGeom prst="rect">
            <a:avLst/>
          </a:prstGeom>
          <a:solidFill>
            <a:srgbClr val="0A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61120" y="5532120"/>
            <a:ext cx="64008" cy="1188720"/>
          </a:xfrm>
          <a:prstGeom prst="rect">
            <a:avLst/>
          </a:prstGeom>
          <a:solidFill>
            <a:srgbClr val="907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0" y="5623559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9070D0"/>
                </a:solidFill>
              </a:rPr>
              <a:t>10J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62179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0B0D0"/>
                </a:solidFill>
              </a:rPr>
              <a:t>Trainingsdaten
validiert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Go-to-Market Strategie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Zweiphasiger Launch: Community →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4864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07007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5120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Community 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Monate 1–6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59152"/>
            <a:ext cx="5120640" cy="36576"/>
          </a:xfrm>
          <a:prstGeom prst="rect">
            <a:avLst/>
          </a:prstGeom>
          <a:solidFill>
            <a:srgbClr val="D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06040"/>
            <a:ext cx="22860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14600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Product Hunt &amp; Hacker News Launch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54680"/>
            <a:ext cx="22860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63240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Finanz-YouTube/TikTok Kooperationen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22860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Kostenloser Pro-Monat für Early Adopters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51959"/>
            <a:ext cx="22860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Reddit r/stocks, r/investing Community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64608"/>
            <a:ext cx="51206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Ziel: Ziel: 1.000 zahlende Nutzer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9728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097280"/>
            <a:ext cx="54864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207007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Phase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Scale &amp; Partnerships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96596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Monate 7–18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359152"/>
            <a:ext cx="5120640" cy="36576"/>
          </a:xfrm>
          <a:prstGeom prst="rect">
            <a:avLst/>
          </a:prstGeom>
          <a:solidFill>
            <a:srgbClr val="D0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2606040"/>
            <a:ext cx="228600" cy="228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2514600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SEO-Inhalt: 50 Finanzartikel/Monat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154680"/>
            <a:ext cx="228600" cy="228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3063240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B2B: FinTech-Kooperationen &amp; 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228600" cy="228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3611880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Paid Ads (Google/Meta) ROAS &gt; 3x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251959"/>
            <a:ext cx="228600" cy="228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4160520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Referral-Programm: 2 Monate gratis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864608"/>
            <a:ext cx="512064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89204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Ziel: Ziel: 10.000 zahlende Nutzer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394960"/>
            <a:ext cx="11430000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45896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Conversion-Funnel: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5486400"/>
            <a:ext cx="118872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71800" y="5577840"/>
            <a:ext cx="10972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Besucher
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852160"/>
            <a:ext cx="457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77840" y="5486400"/>
            <a:ext cx="1188720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23559" y="5577840"/>
            <a:ext cx="10972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Registriert
40%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59" y="5852160"/>
            <a:ext cx="457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5486400"/>
            <a:ext cx="1188720" cy="109728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5577840"/>
            <a:ext cx="10972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Free-Nutzer
25%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19" y="5852160"/>
            <a:ext cx="457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881359" y="5486400"/>
            <a:ext cx="1188720" cy="1097280"/>
          </a:xfrm>
          <a:prstGeom prst="rect">
            <a:avLst/>
          </a:prstGeom>
          <a:solidFill>
            <a:srgbClr val="EF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27080" y="5577840"/>
            <a:ext cx="10972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Pro-Upgrade
8%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Finanzplanung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8580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98079" y="1005840"/>
            <a:ext cx="4389120" cy="914400"/>
          </a:xfrm>
          <a:prstGeom prst="rect">
            <a:avLst/>
          </a:prstGeom>
          <a:solidFill>
            <a:srgbClr val="0E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005840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59" y="1078992"/>
            <a:ext cx="4023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0B0D0"/>
                </a:solidFill>
              </a:rPr>
              <a:t>Break-even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59" y="1444752"/>
            <a:ext cx="4023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Monat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057400"/>
            <a:ext cx="4389120" cy="914400"/>
          </a:xfrm>
          <a:prstGeom prst="rect">
            <a:avLst/>
          </a:prstGeom>
          <a:solidFill>
            <a:srgbClr val="0E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2057400"/>
            <a:ext cx="64008" cy="91440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2130552"/>
            <a:ext cx="4023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0B0D0"/>
                </a:solidFill>
              </a:rPr>
              <a:t>MRR Ziel M18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2496312"/>
            <a:ext cx="4023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7C54B"/>
                </a:solidFill>
              </a:rPr>
              <a:t>€1,2 Mio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3108960"/>
            <a:ext cx="4389120" cy="914400"/>
          </a:xfrm>
          <a:prstGeom prst="rect">
            <a:avLst/>
          </a:prstGeom>
          <a:solidFill>
            <a:srgbClr val="0E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3108960"/>
            <a:ext cx="64008" cy="914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59" y="3182112"/>
            <a:ext cx="4023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0B0D0"/>
                </a:solidFill>
              </a:rPr>
              <a:t>LTV:CAC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59" y="3547872"/>
            <a:ext cx="4023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2C39A"/>
                </a:solidFill>
              </a:rPr>
              <a:t>34:1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4160520"/>
            <a:ext cx="4389120" cy="914400"/>
          </a:xfrm>
          <a:prstGeom prst="rect">
            <a:avLst/>
          </a:prstGeom>
          <a:solidFill>
            <a:srgbClr val="0E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4160520"/>
            <a:ext cx="64008" cy="914400"/>
          </a:xfrm>
          <a:prstGeom prst="rect">
            <a:avLst/>
          </a:prstGeom>
          <a:solidFill>
            <a:srgbClr val="907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59" y="4233672"/>
            <a:ext cx="4023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0B0D0"/>
                </a:solidFill>
              </a:rPr>
              <a:t>Gross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4599431"/>
            <a:ext cx="4023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9070E0"/>
                </a:solidFill>
              </a:rPr>
              <a:t>78%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434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Nutzer-Wachstum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800600"/>
            <a:ext cx="1600200" cy="438912"/>
          </a:xfrm>
          <a:prstGeom prst="rect">
            <a:avLst/>
          </a:prstGeom>
          <a:solidFill>
            <a:srgbClr val="06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4855464"/>
            <a:ext cx="153619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Zeitraum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4800600"/>
            <a:ext cx="1417320" cy="438912"/>
          </a:xfrm>
          <a:prstGeom prst="rect">
            <a:avLst/>
          </a:prstGeom>
          <a:solidFill>
            <a:srgbClr val="06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84832" y="4855464"/>
            <a:ext cx="135331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Free-User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4800600"/>
            <a:ext cx="1325880" cy="438912"/>
          </a:xfrm>
          <a:prstGeom prst="rect">
            <a:avLst/>
          </a:prstGeom>
          <a:solidFill>
            <a:srgbClr val="06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47872" y="4855464"/>
            <a:ext cx="126187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Pro-User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4800600"/>
            <a:ext cx="1508760" cy="438912"/>
          </a:xfrm>
          <a:prstGeom prst="rect">
            <a:avLst/>
          </a:prstGeom>
          <a:solidFill>
            <a:srgbClr val="06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4855464"/>
            <a:ext cx="144475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Institutional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800600"/>
            <a:ext cx="1600200" cy="438912"/>
          </a:xfrm>
          <a:prstGeom prst="rect">
            <a:avLst/>
          </a:prstGeom>
          <a:solidFill>
            <a:srgbClr val="06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4855464"/>
            <a:ext cx="153619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MRR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276088"/>
            <a:ext cx="1600200" cy="438912"/>
          </a:xfrm>
          <a:prstGeom prst="rect">
            <a:avLst/>
          </a:prstGeom>
          <a:solidFill>
            <a:srgbClr val="0C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5330951"/>
            <a:ext cx="153619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Monat 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5276088"/>
            <a:ext cx="1417320" cy="438912"/>
          </a:xfrm>
          <a:prstGeom prst="rect">
            <a:avLst/>
          </a:prstGeom>
          <a:solidFill>
            <a:srgbClr val="0C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84832" y="5330951"/>
            <a:ext cx="135331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5276088"/>
            <a:ext cx="1325880" cy="438912"/>
          </a:xfrm>
          <a:prstGeom prst="rect">
            <a:avLst/>
          </a:prstGeom>
          <a:solidFill>
            <a:srgbClr val="0C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47872" y="5330951"/>
            <a:ext cx="126187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5276088"/>
            <a:ext cx="1508760" cy="438912"/>
          </a:xfrm>
          <a:prstGeom prst="rect">
            <a:avLst/>
          </a:prstGeom>
          <a:solidFill>
            <a:srgbClr val="0C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19472" y="5330951"/>
            <a:ext cx="144475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276088"/>
            <a:ext cx="1600200" cy="438912"/>
          </a:xfrm>
          <a:prstGeom prst="rect">
            <a:avLst/>
          </a:prstGeom>
          <a:solidFill>
            <a:srgbClr val="0C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2" y="5330951"/>
            <a:ext cx="153619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7C54B"/>
                </a:solidFill>
              </a:rPr>
              <a:t>€2.500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751576"/>
            <a:ext cx="1600200" cy="438912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5806440"/>
            <a:ext cx="153619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Monat 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0" y="5751576"/>
            <a:ext cx="1417320" cy="438912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84832" y="5806440"/>
            <a:ext cx="135331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4.000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0" y="5751576"/>
            <a:ext cx="1325880" cy="438912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47872" y="5806440"/>
            <a:ext cx="126187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6320" y="5751576"/>
            <a:ext cx="1508760" cy="438912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19472" y="5806440"/>
            <a:ext cx="144475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5751576"/>
            <a:ext cx="1600200" cy="438912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3952" y="5806440"/>
            <a:ext cx="153619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7C54B"/>
                </a:solidFill>
              </a:rPr>
              <a:t>€16.700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6227064"/>
            <a:ext cx="1600200" cy="438912"/>
          </a:xfrm>
          <a:prstGeom prst="rect">
            <a:avLst/>
          </a:prstGeom>
          <a:solidFill>
            <a:srgbClr val="0C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6281928"/>
            <a:ext cx="153619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Monat 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11680" y="6227064"/>
            <a:ext cx="1417320" cy="438912"/>
          </a:xfrm>
          <a:prstGeom prst="rect">
            <a:avLst/>
          </a:prstGeom>
          <a:solidFill>
            <a:srgbClr val="0C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84832" y="6281928"/>
            <a:ext cx="135331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15.000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0" y="6227064"/>
            <a:ext cx="1325880" cy="438912"/>
          </a:xfrm>
          <a:prstGeom prst="rect">
            <a:avLst/>
          </a:prstGeom>
          <a:solidFill>
            <a:srgbClr val="0C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47872" y="6281928"/>
            <a:ext cx="126187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2.200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46320" y="6227064"/>
            <a:ext cx="1508760" cy="438912"/>
          </a:xfrm>
          <a:prstGeom prst="rect">
            <a:avLst/>
          </a:prstGeom>
          <a:solidFill>
            <a:srgbClr val="0C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19472" y="6281928"/>
            <a:ext cx="144475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6227064"/>
            <a:ext cx="1600200" cy="438912"/>
          </a:xfrm>
          <a:prstGeom prst="rect">
            <a:avLst/>
          </a:prstGeom>
          <a:solidFill>
            <a:srgbClr val="0C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73952" y="6281928"/>
            <a:ext cx="153619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7C54B"/>
                </a:solidFill>
              </a:rPr>
              <a:t>€73.000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98079" y="5212080"/>
            <a:ext cx="4389120" cy="1508760"/>
          </a:xfrm>
          <a:prstGeom prst="rect">
            <a:avLst/>
          </a:prstGeom>
          <a:solidFill>
            <a:srgbClr val="0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89520" y="525780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7C54B"/>
                </a:solidFill>
              </a:rPr>
              <a:t>Unit Economics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9520" y="566928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€42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60807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CAC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06840" y="566928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€1.428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06840" y="60807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LTV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24160" y="566928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5 Monate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0" y="60807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Payback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Produkt-Roadmap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3-Phasen-Plan zur Marktführerschaft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749039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33832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H2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33832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3749039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54864" cy="4206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✓ MVP Launch &amp; Public Beta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✓ 1.000 zahlende Nutzer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✓ Simple + Pro Mode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✓ Backtesting-Engine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✓ Mobile App (iOS/Android)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097280"/>
            <a:ext cx="3749039" cy="7315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143000"/>
            <a:ext cx="33832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H1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481328"/>
            <a:ext cx="33832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Growth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1828800"/>
            <a:ext cx="3749039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1828800"/>
            <a:ext cx="54864" cy="42062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01168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5.000 zahlende Nutzer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78892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B2B API-Produkt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56616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Options-Analyse-Modul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34340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Social Trading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12064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Crypto-Märkte Integration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097280"/>
            <a:ext cx="3749039" cy="73152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143000"/>
            <a:ext cx="33832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H2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1481328"/>
            <a:ext cx="33832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1828800"/>
            <a:ext cx="3749039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1828800"/>
            <a:ext cx="54864" cy="420624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01168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15.000 zahlende Nutzer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78892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Internationale Expansion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56616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Institutional Suite v2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34340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White-Label-Lösung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12064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→ Series A Vorbereitung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715000"/>
            <a:ext cx="11430000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5715000"/>
            <a:ext cx="54864" cy="91440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7607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7C54B"/>
                </a:solidFill>
              </a:rPr>
              <a:t>Series A Vorbereitung ab H2 2026: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57607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0C4E0"/>
                </a:solidFill>
              </a:rPr>
              <a:t>MRR €1,2Mio+  ·  15.000+ zahlende Nutzer  ·  LTV:CAC &gt; 30:1  ·  Internationale Präsenz  ·  Ziel-Valuation: €12–18 Mio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12648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80A0C0"/>
                </a:solidFill>
              </a:rPr>
              <a:t>Angestrebte Investoren: B2B FinTech VCs, Corporate VCs (Deutsche Bank, Commerzbank)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Finanzierungsrunde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5486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600" b="1" i="0">
                <a:solidFill>
                  <a:srgbClr val="F7C54B"/>
                </a:solidFill>
              </a:rPr>
              <a:t>€ 750.000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0C4E0"/>
                </a:solidFill>
              </a:rPr>
              <a:t>Seed-Runde  ·  Pre-Money Valuation: €3,5 Mio  ·  17,6% Equity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5486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Mittelverwendung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154680"/>
            <a:ext cx="2386584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18688"/>
            <a:ext cx="2743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3784" y="3218688"/>
            <a:ext cx="914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45%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94760"/>
            <a:ext cx="132588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58768"/>
            <a:ext cx="2743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14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25%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34840"/>
            <a:ext cx="795528" cy="50292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98848"/>
            <a:ext cx="2743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Infrastruktur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4498848"/>
            <a:ext cx="914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7C54B"/>
                </a:solidFill>
              </a:rPr>
              <a:t>15%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074920"/>
            <a:ext cx="530352" cy="502920"/>
          </a:xfrm>
          <a:prstGeom prst="rect">
            <a:avLst/>
          </a:prstGeom>
          <a:solidFill>
            <a:srgbClr val="907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138928"/>
            <a:ext cx="2743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Legal &amp; 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138928"/>
            <a:ext cx="914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9070D0"/>
                </a:solidFill>
              </a:rPr>
              <a:t>10%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715000"/>
            <a:ext cx="265176" cy="502920"/>
          </a:xfrm>
          <a:prstGeom prst="rect">
            <a:avLst/>
          </a:prstGeom>
          <a:solidFill>
            <a:srgbClr val="6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779008"/>
            <a:ext cx="2743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5779008"/>
            <a:ext cx="914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6080A0"/>
                </a:solidFill>
              </a:rPr>
              <a:t>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005840"/>
            <a:ext cx="5486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18-Monats-Meilensteine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508760"/>
            <a:ext cx="68580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618488"/>
            <a:ext cx="685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M1–M3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1508760"/>
            <a:ext cx="4937760" cy="658368"/>
          </a:xfrm>
          <a:prstGeom prst="rect">
            <a:avLst/>
          </a:prstGeom>
          <a:solidFill>
            <a:srgbClr val="0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1618488"/>
            <a:ext cx="46634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Team aufbauen (4 Personen)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286000"/>
            <a:ext cx="685800" cy="6583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395728"/>
            <a:ext cx="685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M3–M6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2286000"/>
            <a:ext cx="4937760" cy="658368"/>
          </a:xfrm>
          <a:prstGeom prst="rect">
            <a:avLst/>
          </a:prstGeom>
          <a:solidFill>
            <a:srgbClr val="0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395728"/>
            <a:ext cx="46634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Public Beta + 1.000 Nutzer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063239"/>
            <a:ext cx="685800" cy="658368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172968"/>
            <a:ext cx="685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M6–M12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3063239"/>
            <a:ext cx="4937760" cy="658368"/>
          </a:xfrm>
          <a:prstGeom prst="rect">
            <a:avLst/>
          </a:prstGeom>
          <a:solidFill>
            <a:srgbClr val="0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172968"/>
            <a:ext cx="46634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Break-even vorbereiten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840479"/>
            <a:ext cx="685800" cy="6583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950207"/>
            <a:ext cx="685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86600" y="3840479"/>
            <a:ext cx="4937760" cy="658368"/>
          </a:xfrm>
          <a:prstGeom prst="rect">
            <a:avLst/>
          </a:prstGeom>
          <a:solidFill>
            <a:srgbClr val="0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60" y="3950207"/>
            <a:ext cx="46634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MRR €52K — Profitabilität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617720"/>
            <a:ext cx="68580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727448"/>
            <a:ext cx="685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86600" y="4617720"/>
            <a:ext cx="4937760" cy="658368"/>
          </a:xfrm>
          <a:prstGeom prst="rect">
            <a:avLst/>
          </a:prstGeom>
          <a:solidFill>
            <a:srgbClr val="0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4727448"/>
            <a:ext cx="46634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Break-even erreicht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5394960"/>
            <a:ext cx="685800" cy="658368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504688"/>
            <a:ext cx="685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M18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86600" y="5394960"/>
            <a:ext cx="4937760" cy="658368"/>
          </a:xfrm>
          <a:prstGeom prst="rect">
            <a:avLst/>
          </a:prstGeom>
          <a:solidFill>
            <a:srgbClr val="0E1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5504688"/>
            <a:ext cx="46634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MRR €73K+ · Series A ready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6126480"/>
            <a:ext cx="11430000" cy="64008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172200"/>
            <a:ext cx="10972800" cy="521207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 Gründerfonds: Seed-Ticket €750K für 17,6% · SAFE-Note Option verfügbar · Board-Seat nach Verhandlung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61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548640"/>
            <a:ext cx="2103120" cy="2103120"/>
          </a:xfrm>
          <a:prstGeom prst="ellipse">
            <a:avLst/>
          </a:prstGeom>
          <a:solidFill>
            <a:srgbClr val="023A5C"/>
          </a:solidFill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822960"/>
            <a:ext cx="210312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200" b="1" i="0">
                <a:solidFill>
                  <a:srgbClr val="00B4D8"/>
                </a:solidFill>
              </a:rPr>
              <a:t>IMB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34640"/>
            <a:ext cx="44805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Ibrahim Meriç Başak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364992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Founder &amp; CEO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931920"/>
            <a:ext cx="4206240" cy="475488"/>
          </a:xfrm>
          <a:prstGeom prst="rect">
            <a:avLst/>
          </a:prstGeom>
          <a:solidFill>
            <a:srgbClr val="0C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931920"/>
            <a:ext cx="54864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05072"/>
            <a:ext cx="3840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B0D0E8"/>
                </a:solidFill>
              </a:rPr>
              <a:t>✓  Full-Stack Development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498848"/>
            <a:ext cx="4206240" cy="475488"/>
          </a:xfrm>
          <a:prstGeom prst="rect">
            <a:avLst/>
          </a:prstGeom>
          <a:solidFill>
            <a:srgbClr val="0C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498848"/>
            <a:ext cx="54864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3840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B0D0E8"/>
                </a:solidFill>
              </a:rPr>
              <a:t>✓  Machine Learning / DRL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065776"/>
            <a:ext cx="4206240" cy="475488"/>
          </a:xfrm>
          <a:prstGeom prst="rect">
            <a:avLst/>
          </a:prstGeom>
          <a:solidFill>
            <a:srgbClr val="0C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065776"/>
            <a:ext cx="54864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38928"/>
            <a:ext cx="3840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B0D0E8"/>
                </a:solidFill>
              </a:rPr>
              <a:t>✓  Financial Markets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632704"/>
            <a:ext cx="4206240" cy="475488"/>
          </a:xfrm>
          <a:prstGeom prst="rect">
            <a:avLst/>
          </a:prstGeom>
          <a:solidFill>
            <a:srgbClr val="0C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632704"/>
            <a:ext cx="54864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705856"/>
            <a:ext cx="3840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B0D0E8"/>
                </a:solidFill>
              </a:rPr>
              <a:t>✓  Product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82880"/>
            <a:ext cx="6675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Warum ich — warum FinPilot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822960"/>
            <a:ext cx="18288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960120"/>
            <a:ext cx="65836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B0D0EC"/>
                </a:solidFill>
              </a:rPr>
              <a:t>"Als ich mit dem Investieren anfing, wollte ich dieselben Tools nutzen, die die Profis verwenden. Die gab es nicht für mich. Also baute ich sie."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423160"/>
            <a:ext cx="6583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Geplante Key Hires (Seed-Funding):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2926080"/>
            <a:ext cx="6583680" cy="868680"/>
          </a:xfrm>
          <a:prstGeom prst="rect">
            <a:avLst/>
          </a:prstGeom>
          <a:solidFill>
            <a:srgbClr val="10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03520" y="2926080"/>
            <a:ext cx="54864" cy="8686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2999232"/>
            <a:ext cx="6217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Senior ML Engineer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383280"/>
            <a:ext cx="6217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0B0D0"/>
                </a:solidFill>
              </a:rPr>
              <a:t>DRL-Optimierung &amp; Skalierung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3886200"/>
            <a:ext cx="6583680" cy="868680"/>
          </a:xfrm>
          <a:prstGeom prst="rect">
            <a:avLst/>
          </a:prstGeom>
          <a:solidFill>
            <a:srgbClr val="10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03520" y="3886200"/>
            <a:ext cx="54864" cy="8686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3959352"/>
            <a:ext cx="6217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Full-Stack Developer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343400"/>
            <a:ext cx="6217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0B0D0"/>
                </a:solidFill>
              </a:rPr>
              <a:t>React/FastAPI Produkt-Entwicklung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4846320"/>
            <a:ext cx="6583680" cy="868680"/>
          </a:xfrm>
          <a:prstGeom prst="rect">
            <a:avLst/>
          </a:prstGeom>
          <a:solidFill>
            <a:srgbClr val="10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03520" y="4846320"/>
            <a:ext cx="54864" cy="8686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0" y="4919472"/>
            <a:ext cx="6217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Growth Marketer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303520"/>
            <a:ext cx="6217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90B0D0"/>
                </a:solidFill>
              </a:rPr>
              <a:t>B2C-Akquise &amp; Community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0" y="5806440"/>
            <a:ext cx="6583680" cy="914400"/>
          </a:xfrm>
          <a:prstGeom prst="rect">
            <a:avLst/>
          </a:prstGeom>
          <a:solidFill>
            <a:srgbClr val="02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03520" y="5806440"/>
            <a:ext cx="6583680" cy="64008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0" y="5870448"/>
            <a:ext cx="63093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Vision: FinPilot soll der Standard für KI-gestützte Investmentanalyse werden — zugänglich für jeden.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26364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6090B0"/>
                </a:solidFill>
              </a:rPr>
              <a:t>mericbsk@gmail.com  ·  finpilot.app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